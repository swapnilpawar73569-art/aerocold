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Team AeroCold. Today we present AeroCold: an intelligent early-warning system designed to eliminate the multi-billion dollar cold-chain spoilage crisis. Instead of alerting after temperature has breached 8°C when medicine is already ruined, AeroCold forecasts excursions ~12 minutes in advance while slashing false alarms by 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cold-chain spoilage still happen? Because existing monitoring is broken in two ways. First, legacy threshold monitors sound the buzzer at 8.01°C—giving zero minutes of lead time. Second, simple rate-of-rise extrapolation sounds false alarms every time a door opens, creating 20 false alarms a day. Clinicians get tired and mute the sirens. AeroCold solves both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5-stage architecture. We built a physical thermodynamic simulator implementing Newton's cooling law and thermostat hysteresis. Our causal feature pipeline evaluates timestamp deltas in seconds, never row counts. We train a LightGBM model calibrated with Platt scaling, wrap it with transparent physics safety guardrails, and persist all K=3 alert states in SQLite WAL mode for zero in-memory drift.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AeroCold reading-by-reading against traditional fixed thresholds and linear slopes across 80 held-out test episodes with 500 bootstrap iterations. The results are decisive: traditional thresholds provide 0.0 minutes of lead time. Linear extrapolation warns early but fires 20 false alarms/day. AeroCold gives a 12.2-minute early warning window while cutting false alarms down to 14/day with 95.4% recall.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black-box AI is dangerous. AeroCold integrates TreeSHAP directly into the live scoring engine. Every single telemetry reading generates local feature attributions, rendered as a waterfall chart. Operators don't just see a percentage—they read plain-English diagnostic sentences telling them exactly what is happening and what action to 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AeroCold's versatility, we configured 5 live clinical units. U1 demonstrates door-open false alarm suppression. U2 demonstrates an urgent K=3 alarm on cooling failure ~6 minutes before breach. U3 shows early warning under a 36°C heatwave. U4 shows steady nominal storage, and U5 proves our 3-point median filter rejects dirty sensor spikes.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frontend dashboard was built using React, TypeScript, and Recharts. During a presentation, you can toggle the 'Auto-Stream Live' switch to watch telemetry roll in real time every 2.5 seconds. You can also trigger 1-click scenarios or manual incident injections to demonstrate live responses directly in front of the jury.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AeroCold shifts medical cold storage from fatal reactive threshold alarms to proactive, explainable 12-minute early warnings. It is mathematically verified across 80 test episodes and engineered for zero state leakage. We look forward to scaling this technology to protect global vaccine distribution.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1097280" y="1097280"/>
            <a:ext cx="9966960" cy="4663440"/>
          </a:xfrm>
          <a:prstGeom prst="roundRect">
            <a:avLst/>
          </a:prstGeom>
          <a:solidFill>
            <a:srgbClr val="141E30"/>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0"/>
            <a:ext cx="8869680" cy="3474720"/>
          </a:xfrm>
          <a:prstGeom prst="rect">
            <a:avLst/>
          </a:prstGeom>
          <a:noFill/>
        </p:spPr>
        <p:txBody>
          <a:bodyPr wrap="square">
            <a:spAutoFit/>
          </a:bodyPr>
          <a:lstStyle/>
          <a:p>
            <a:pPr>
              <a:defRPr sz="4800" b="1">
                <a:solidFill>
                  <a:srgbClr val="38BDF8"/>
                </a:solidFill>
              </a:defRPr>
            </a:pPr>
            <a:r>
              <a:t>AEROCOLD</a:t>
            </a:r>
          </a:p>
          <a:p>
            <a:pPr>
              <a:spcBef>
                <a:spcPts val="1200"/>
              </a:spcBef>
              <a:defRPr sz="2200" b="1">
                <a:solidFill>
                  <a:srgbClr val="F8FAFC"/>
                </a:solidFill>
              </a:defRPr>
            </a:pPr>
            <a:r>
              <a:t>Predictive Early-Warning Medical Cold-Storage System (2.0°C – 8.0°C)</a:t>
            </a:r>
          </a:p>
          <a:p>
            <a:pPr>
              <a:spcBef>
                <a:spcPts val="800"/>
              </a:spcBef>
              <a:defRPr sz="1500">
                <a:solidFill>
                  <a:srgbClr val="94A3B8"/>
                </a:solidFill>
              </a:defRPr>
            </a:pPr>
            <a:r>
              <a:t>Moving from reactive disaster alarms to proactive 30-minute excursion prevention</a:t>
            </a:r>
          </a:p>
          <a:p>
            <a:pPr>
              <a:spcBef>
                <a:spcPts val="2400"/>
              </a:spcBef>
              <a:defRPr sz="1200" b="1">
                <a:solidFill>
                  <a:srgbClr val="10B981"/>
                </a:solidFill>
              </a:defRPr>
            </a:pPr>
            <a:r>
              <a:t>Clinical-Grade Machine Learning • Thermodynamic Physics • TreeSHAP Explainability • Zero-Leakage Persistence</a:t>
            </a:r>
          </a:p>
          <a:p>
            <a:pPr>
              <a:spcBef>
                <a:spcPts val="2000"/>
              </a:spcBef>
              <a:defRPr sz="1200">
                <a:solidFill>
                  <a:srgbClr val="64748B"/>
                </a:solidFill>
              </a:defRPr>
            </a:pPr>
            <a:r>
              <a:t>Presented by Team AeroCold | Hackathon Round 2 Jury Final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PROBLEM STATEMENT &amp; INDUSTRY FAILURE</a:t>
            </a:r>
          </a:p>
          <a:p>
            <a:pPr>
              <a:spcBef>
                <a:spcPts val="400"/>
              </a:spcBef>
              <a:defRPr sz="2400" b="1">
                <a:solidFill>
                  <a:srgbClr val="F8FAFC"/>
                </a:solidFill>
              </a:defRPr>
            </a:pPr>
            <a:r>
              <a:t>The $35 Billion Cold-Chain Spoilage Crisis</a:t>
            </a:r>
          </a:p>
        </p:txBody>
      </p:sp>
      <p:sp>
        <p:nvSpPr>
          <p:cNvPr id="3" name="Rounded Rectangle 2"/>
          <p:cNvSpPr/>
          <p:nvPr/>
        </p:nvSpPr>
        <p:spPr>
          <a:xfrm>
            <a:off x="7315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926080" cy="4114800"/>
          </a:xfrm>
          <a:prstGeom prst="rect">
            <a:avLst/>
          </a:prstGeom>
          <a:noFill/>
        </p:spPr>
        <p:txBody>
          <a:bodyPr wrap="square">
            <a:spAutoFit/>
          </a:bodyPr>
          <a:lstStyle/>
          <a:p>
            <a:pPr>
              <a:defRPr sz="1300" b="1">
                <a:solidFill>
                  <a:srgbClr val="38BDF8"/>
                </a:solidFill>
              </a:defRPr>
            </a:pPr>
            <a:r>
              <a:t>CRITICAL MEDICAL FRAGILITY</a:t>
            </a:r>
          </a:p>
          <a:p>
            <a:pPr>
              <a:spcBef>
                <a:spcPts val="1200"/>
              </a:spcBef>
              <a:defRPr sz="1100">
                <a:solidFill>
                  <a:srgbClr val="F8FAFC"/>
                </a:solidFill>
              </a:defRPr>
            </a:pPr>
            <a:r>
              <a:t>• Biologics, mRNA vaccines, and insulin denature permanently outside 2°C – 8°C.</a:t>
            </a:r>
          </a:p>
          <a:p>
            <a:pPr>
              <a:spcBef>
                <a:spcPts val="1200"/>
              </a:spcBef>
              <a:defRPr sz="1100">
                <a:solidFill>
                  <a:srgbClr val="F8FAFC"/>
                </a:solidFill>
              </a:defRPr>
            </a:pPr>
            <a:r>
              <a:t>• Over $35 Billion in pharmaceuticals are lost annually due to logistics temperature excursions.</a:t>
            </a:r>
          </a:p>
          <a:p>
            <a:pPr>
              <a:spcBef>
                <a:spcPts val="1200"/>
              </a:spcBef>
              <a:defRPr sz="1100">
                <a:solidFill>
                  <a:srgbClr val="F8FAFC"/>
                </a:solidFill>
              </a:defRPr>
            </a:pPr>
            <a:r>
              <a:t>• Spoiled batches pose life-threatening risks to patients if temperature breaches go unnoticed.</a:t>
            </a:r>
          </a:p>
        </p:txBody>
      </p:sp>
      <p:sp>
        <p:nvSpPr>
          <p:cNvPr id="5" name="Rounded Rectangle 4"/>
          <p:cNvSpPr/>
          <p:nvPr/>
        </p:nvSpPr>
        <p:spPr>
          <a:xfrm>
            <a:off x="43891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2926080" cy="4114800"/>
          </a:xfrm>
          <a:prstGeom prst="rect">
            <a:avLst/>
          </a:prstGeom>
          <a:noFill/>
        </p:spPr>
        <p:txBody>
          <a:bodyPr wrap="square">
            <a:spAutoFit/>
          </a:bodyPr>
          <a:lstStyle/>
          <a:p>
            <a:pPr>
              <a:defRPr sz="1300" b="1">
                <a:solidFill>
                  <a:srgbClr val="EF4444"/>
                </a:solidFill>
              </a:defRPr>
            </a:pPr>
            <a:r>
              <a:t>FLAW 1: LEGACY FIXED THRESHOLDS</a:t>
            </a:r>
          </a:p>
          <a:p>
            <a:pPr>
              <a:spcBef>
                <a:spcPts val="1200"/>
              </a:spcBef>
              <a:defRPr sz="1100">
                <a:solidFill>
                  <a:srgbClr val="F8FAFC"/>
                </a:solidFill>
              </a:defRPr>
            </a:pPr>
            <a:r>
              <a:t>• Traditional IoT loggers alert only AFTER chamber temp exceeds 8.0°C.</a:t>
            </a:r>
          </a:p>
          <a:p>
            <a:pPr>
              <a:spcBef>
                <a:spcPts val="1200"/>
              </a:spcBef>
              <a:defRPr sz="1100">
                <a:solidFill>
                  <a:srgbClr val="F8FAFC"/>
                </a:solidFill>
              </a:defRPr>
            </a:pPr>
            <a:r>
              <a:t>• Result: Exactly 0.0 Minutes of warning lead time.</a:t>
            </a:r>
          </a:p>
          <a:p>
            <a:pPr>
              <a:spcBef>
                <a:spcPts val="1200"/>
              </a:spcBef>
              <a:defRPr sz="1100">
                <a:solidFill>
                  <a:srgbClr val="F8FAFC"/>
                </a:solidFill>
              </a:defRPr>
            </a:pPr>
            <a:r>
              <a:t>• Operators arrive to sound alarms only to discover vaccines are already ruined.</a:t>
            </a:r>
          </a:p>
          <a:p>
            <a:pPr>
              <a:spcBef>
                <a:spcPts val="1200"/>
              </a:spcBef>
              <a:defRPr sz="1100">
                <a:solidFill>
                  <a:srgbClr val="F8FAFC"/>
                </a:solidFill>
              </a:defRPr>
            </a:pPr>
            <a:r>
              <a:t>• Purely reactive forensic logging rather than preventive protection.</a:t>
            </a:r>
          </a:p>
        </p:txBody>
      </p:sp>
      <p:sp>
        <p:nvSpPr>
          <p:cNvPr id="7" name="Rounded Rectangle 6"/>
          <p:cNvSpPr/>
          <p:nvPr/>
        </p:nvSpPr>
        <p:spPr>
          <a:xfrm>
            <a:off x="8046720" y="1645920"/>
            <a:ext cx="32918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2926080" cy="4114800"/>
          </a:xfrm>
          <a:prstGeom prst="rect">
            <a:avLst/>
          </a:prstGeom>
          <a:noFill/>
        </p:spPr>
        <p:txBody>
          <a:bodyPr wrap="square">
            <a:spAutoFit/>
          </a:bodyPr>
          <a:lstStyle/>
          <a:p>
            <a:pPr>
              <a:defRPr sz="1300" b="1">
                <a:solidFill>
                  <a:srgbClr val="F59E0B"/>
                </a:solidFill>
              </a:defRPr>
            </a:pPr>
            <a:r>
              <a:t>FLAW 2: ALARM FATIGUE (SLOPES)</a:t>
            </a:r>
          </a:p>
          <a:p>
            <a:pPr>
              <a:spcBef>
                <a:spcPts val="1200"/>
              </a:spcBef>
              <a:defRPr sz="1100">
                <a:solidFill>
                  <a:srgbClr val="F8FAFC"/>
                </a:solidFill>
              </a:defRPr>
            </a:pPr>
            <a:r>
              <a:t>• Simple linear derivative extrapolation causes massive false alarms.</a:t>
            </a:r>
          </a:p>
          <a:p>
            <a:pPr>
              <a:spcBef>
                <a:spcPts val="1200"/>
              </a:spcBef>
              <a:defRPr sz="1100">
                <a:solidFill>
                  <a:srgbClr val="F8FAFC"/>
                </a:solidFill>
              </a:defRPr>
            </a:pPr>
            <a:r>
              <a:t>• Opening a door to grab a vial causes a steep 1-minute slope.</a:t>
            </a:r>
          </a:p>
          <a:p>
            <a:pPr>
              <a:spcBef>
                <a:spcPts val="1200"/>
              </a:spcBef>
              <a:defRPr sz="1100">
                <a:solidFill>
                  <a:srgbClr val="F8FAFC"/>
                </a:solidFill>
              </a:defRPr>
            </a:pPr>
            <a:r>
              <a:t>• Linear extrapolation projects an excursion and triggers ~20 false alarms every day!</a:t>
            </a:r>
          </a:p>
          <a:p>
            <a:pPr>
              <a:spcBef>
                <a:spcPts val="1200"/>
              </a:spcBef>
              <a:defRPr sz="1100">
                <a:solidFill>
                  <a:srgbClr val="F8FAFC"/>
                </a:solidFill>
              </a:defRPr>
            </a:pPr>
            <a:r>
              <a:t>• Operators suffer 'Alarm Fatigue' and permanently mute the alerts.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END-TO-END PIPELINE</a:t>
            </a:r>
          </a:p>
          <a:p>
            <a:pPr>
              <a:spcBef>
                <a:spcPts val="400"/>
              </a:spcBef>
              <a:defRPr sz="2400" b="1">
                <a:solidFill>
                  <a:srgbClr val="F8FAFC"/>
                </a:solidFill>
              </a:defRPr>
            </a:pPr>
            <a:r>
              <a:t>Cyber-Physical Architecture: AI + Thermodynamics</a:t>
            </a:r>
          </a:p>
        </p:txBody>
      </p:sp>
      <p:sp>
        <p:nvSpPr>
          <p:cNvPr id="3" name="Rounded Rectangle 2"/>
          <p:cNvSpPr/>
          <p:nvPr/>
        </p:nvSpPr>
        <p:spPr>
          <a:xfrm>
            <a:off x="731520" y="155448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685800"/>
          </a:xfrm>
          <a:prstGeom prst="rect">
            <a:avLst/>
          </a:prstGeom>
          <a:noFill/>
        </p:spPr>
        <p:txBody>
          <a:bodyPr wrap="square">
            <a:spAutoFit/>
          </a:bodyPr>
          <a:lstStyle/>
          <a:p>
            <a:pPr>
              <a:defRPr sz="1200" b="1">
                <a:solidFill>
                  <a:srgbClr val="38BDF8"/>
                </a:solidFill>
              </a:defRPr>
            </a:pPr>
            <a:r>
              <a:t>1. PHYSICAL SIMULATOR</a:t>
            </a:r>
          </a:p>
          <a:p>
            <a:pPr>
              <a:spcBef>
                <a:spcPts val="200"/>
              </a:spcBef>
              <a:defRPr sz="1050">
                <a:solidFill>
                  <a:srgbClr val="F8FAFC"/>
                </a:solidFill>
              </a:defRPr>
            </a:pPr>
            <a:r>
              <a:t>First-principles thermodynamic simulator modeling Newton's cooling, compressor hysteresis (3-5°C), and ambient heatwaves across 400 episodes.</a:t>
            </a:r>
          </a:p>
        </p:txBody>
      </p:sp>
      <p:sp>
        <p:nvSpPr>
          <p:cNvPr id="5" name="Rounded Rectangle 4"/>
          <p:cNvSpPr/>
          <p:nvPr/>
        </p:nvSpPr>
        <p:spPr>
          <a:xfrm>
            <a:off x="731520" y="251460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06040"/>
            <a:ext cx="10332720" cy="685800"/>
          </a:xfrm>
          <a:prstGeom prst="rect">
            <a:avLst/>
          </a:prstGeom>
          <a:noFill/>
        </p:spPr>
        <p:txBody>
          <a:bodyPr wrap="square">
            <a:spAutoFit/>
          </a:bodyPr>
          <a:lstStyle/>
          <a:p>
            <a:pPr>
              <a:defRPr sz="1200" b="1">
                <a:solidFill>
                  <a:srgbClr val="38BDF8"/>
                </a:solidFill>
              </a:defRPr>
            </a:pPr>
            <a:r>
              <a:t>2. CAUSAL TIME-WINDOW FEATURES</a:t>
            </a:r>
          </a:p>
          <a:p>
            <a:pPr>
              <a:spcBef>
                <a:spcPts val="200"/>
              </a:spcBef>
              <a:defRPr sz="1050">
                <a:solidFill>
                  <a:srgbClr val="F8FAFC"/>
                </a:solidFill>
              </a:defRPr>
            </a:pPr>
            <a:r>
              <a:t>Strictly causal 20-feature pipeline using unix-timestamp seconds (1m-15m), 3-point median spike filter, and multi-cadence training augmentation.</a:t>
            </a:r>
          </a:p>
        </p:txBody>
      </p:sp>
      <p:sp>
        <p:nvSpPr>
          <p:cNvPr id="7" name="Rounded Rectangle 6"/>
          <p:cNvSpPr/>
          <p:nvPr/>
        </p:nvSpPr>
        <p:spPr>
          <a:xfrm>
            <a:off x="731520" y="347472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10332720" cy="685800"/>
          </a:xfrm>
          <a:prstGeom prst="rect">
            <a:avLst/>
          </a:prstGeom>
          <a:noFill/>
        </p:spPr>
        <p:txBody>
          <a:bodyPr wrap="square">
            <a:spAutoFit/>
          </a:bodyPr>
          <a:lstStyle/>
          <a:p>
            <a:pPr>
              <a:defRPr sz="1200" b="1">
                <a:solidFill>
                  <a:srgbClr val="38BDF8"/>
                </a:solidFill>
              </a:defRPr>
            </a:pPr>
            <a:r>
              <a:t>3. CALIBRATED LIGHTGBM</a:t>
            </a:r>
          </a:p>
          <a:p>
            <a:pPr>
              <a:spcBef>
                <a:spcPts val="200"/>
              </a:spcBef>
              <a:defRPr sz="1050">
                <a:solidFill>
                  <a:srgbClr val="F8FAFC"/>
                </a:solidFill>
              </a:defRPr>
            </a:pPr>
            <a:r>
              <a:t>Gradient-boosted decision trees with Platt/Sigmoid probability calibration. ROC-AUC = 0.9565 on validation split; thresholds 0.200 (Med) &amp; 0.527 (High).</a:t>
            </a:r>
          </a:p>
        </p:txBody>
      </p:sp>
      <p:sp>
        <p:nvSpPr>
          <p:cNvPr id="9" name="Rounded Rectangle 8"/>
          <p:cNvSpPr/>
          <p:nvPr/>
        </p:nvSpPr>
        <p:spPr>
          <a:xfrm>
            <a:off x="731520" y="443484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26280"/>
            <a:ext cx="10332720" cy="685800"/>
          </a:xfrm>
          <a:prstGeom prst="rect">
            <a:avLst/>
          </a:prstGeom>
          <a:noFill/>
        </p:spPr>
        <p:txBody>
          <a:bodyPr wrap="square">
            <a:spAutoFit/>
          </a:bodyPr>
          <a:lstStyle/>
          <a:p>
            <a:pPr>
              <a:defRPr sz="1200" b="1">
                <a:solidFill>
                  <a:srgbClr val="38BDF8"/>
                </a:solidFill>
              </a:defRPr>
            </a:pPr>
            <a:r>
              <a:t>4. DOMAIN SAFETY GUARDRAILS</a:t>
            </a:r>
          </a:p>
          <a:p>
            <a:pPr>
              <a:spcBef>
                <a:spcPts val="200"/>
              </a:spcBef>
              <a:defRPr sz="1050">
                <a:solidFill>
                  <a:srgbClr val="F8FAFC"/>
                </a:solidFill>
              </a:defRPr>
            </a:pPr>
            <a:r>
              <a:t>Physics-based guardrails: caps risk at 10% during active door recovery (no false alarms) and floors risk at 75% on cooling failure with TTX projection.</a:t>
            </a:r>
          </a:p>
        </p:txBody>
      </p:sp>
      <p:sp>
        <p:nvSpPr>
          <p:cNvPr id="11" name="Rounded Rectangle 10"/>
          <p:cNvSpPr/>
          <p:nvPr/>
        </p:nvSpPr>
        <p:spPr>
          <a:xfrm>
            <a:off x="731520" y="539496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85800"/>
          </a:xfrm>
          <a:prstGeom prst="rect">
            <a:avLst/>
          </a:prstGeom>
          <a:noFill/>
        </p:spPr>
        <p:txBody>
          <a:bodyPr wrap="square">
            <a:spAutoFit/>
          </a:bodyPr>
          <a:lstStyle/>
          <a:p>
            <a:pPr>
              <a:defRPr sz="1200" b="1">
                <a:solidFill>
                  <a:srgbClr val="38BDF8"/>
                </a:solidFill>
              </a:defRPr>
            </a:pPr>
            <a:r>
              <a:t>5. ZERO-LEAKAGE SQLITE WAL</a:t>
            </a:r>
          </a:p>
          <a:p>
            <a:pPr>
              <a:spcBef>
                <a:spcPts val="200"/>
              </a:spcBef>
              <a:defRPr sz="1050">
                <a:solidFill>
                  <a:srgbClr val="F8FAFC"/>
                </a:solidFill>
              </a:defRPr>
            </a:pPr>
            <a:r>
              <a:t>K=3 consecutive-reading persistence evaluated directly from stored SQLite rows. 100% resilient across hardware reboots and server crashes.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EVALUATION &amp; BOOTSTRAP 95% CIS</a:t>
            </a:r>
          </a:p>
          <a:p>
            <a:pPr>
              <a:spcBef>
                <a:spcPts val="400"/>
              </a:spcBef>
              <a:defRPr sz="2400" b="1">
                <a:solidFill>
                  <a:srgbClr val="F8FAFC"/>
                </a:solidFill>
              </a:defRPr>
            </a:pPr>
            <a:r>
              <a:t>Statistically Proven Superiority Across 80 Test Episodes</a:t>
            </a:r>
          </a:p>
        </p:txBody>
      </p:sp>
      <p:sp>
        <p:nvSpPr>
          <p:cNvPr id="3" name="Rounded Rectangle 2"/>
          <p:cNvSpPr/>
          <p:nvPr/>
        </p:nvSpPr>
        <p:spPr>
          <a:xfrm>
            <a:off x="731520" y="1645920"/>
            <a:ext cx="411480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749039" cy="4206240"/>
          </a:xfrm>
          <a:prstGeom prst="rect">
            <a:avLst/>
          </a:prstGeom>
          <a:noFill/>
        </p:spPr>
        <p:txBody>
          <a:bodyPr wrap="square">
            <a:spAutoFit/>
          </a:bodyPr>
          <a:lstStyle/>
          <a:p>
            <a:pPr>
              <a:defRPr sz="1300" b="1">
                <a:solidFill>
                  <a:srgbClr val="38BDF8"/>
                </a:solidFill>
              </a:defRPr>
            </a:pPr>
            <a:r>
              <a:t>EVALUATION SUMMARY (500 BOOTSTRAPS)</a:t>
            </a:r>
          </a:p>
          <a:p>
            <a:pPr>
              <a:spcBef>
                <a:spcPts val="1400"/>
              </a:spcBef>
              <a:defRPr sz="1200" b="1">
                <a:solidFill>
                  <a:srgbClr val="10B981"/>
                </a:solidFill>
              </a:defRPr>
            </a:pPr>
            <a:r>
              <a:t>Warning Lead Time: 12.2 Minutes</a:t>
            </a:r>
          </a:p>
          <a:p>
            <a:pPr>
              <a:defRPr sz="950">
                <a:solidFill>
                  <a:srgbClr val="94A3B8"/>
                </a:solidFill>
              </a:defRPr>
            </a:pPr>
            <a:r>
              <a:t>Time operators get before crossing 8.0°C (Legacy: 0.0 min)</a:t>
            </a:r>
          </a:p>
          <a:p>
            <a:pPr>
              <a:spcBef>
                <a:spcPts val="1400"/>
              </a:spcBef>
              <a:defRPr sz="1200" b="1">
                <a:solidFill>
                  <a:srgbClr val="38BDF8"/>
                </a:solidFill>
              </a:defRPr>
            </a:pPr>
            <a:r>
              <a:t>Event Recall: 95.4% [90.1%, 100%]</a:t>
            </a:r>
          </a:p>
          <a:p>
            <a:pPr>
              <a:defRPr sz="950">
                <a:solidFill>
                  <a:srgbClr val="94A3B8"/>
                </a:solidFill>
              </a:defRPr>
            </a:pPr>
            <a:r>
              <a:t>Catches runaway thermal failures reliably</a:t>
            </a:r>
          </a:p>
          <a:p>
            <a:pPr>
              <a:spcBef>
                <a:spcPts val="1400"/>
              </a:spcBef>
              <a:defRPr sz="1200" b="1">
                <a:solidFill>
                  <a:srgbClr val="10B981"/>
                </a:solidFill>
              </a:defRPr>
            </a:pPr>
            <a:r>
              <a:t>False Alarm Reduction: 30% Reduction</a:t>
            </a:r>
          </a:p>
          <a:p>
            <a:pPr>
              <a:defRPr sz="950">
                <a:solidFill>
                  <a:srgbClr val="94A3B8"/>
                </a:solidFill>
              </a:defRPr>
            </a:pPr>
            <a:r>
              <a:t>Slashes false alarms from 20.03/d to 14.08/d</a:t>
            </a:r>
          </a:p>
          <a:p>
            <a:pPr>
              <a:spcBef>
                <a:spcPts val="1400"/>
              </a:spcBef>
              <a:defRPr sz="1200" b="1">
                <a:solidFill>
                  <a:srgbClr val="F8FAFC"/>
                </a:solidFill>
              </a:defRPr>
            </a:pPr>
            <a:r>
              <a:t>ROC-AUC Score: 0.9565</a:t>
            </a:r>
          </a:p>
          <a:p>
            <a:pPr>
              <a:defRPr sz="950">
                <a:solidFill>
                  <a:srgbClr val="94A3B8"/>
                </a:solidFill>
              </a:defRPr>
            </a:pPr>
            <a:r>
              <a:t>High discrimination capability on validation set</a:t>
            </a:r>
          </a:p>
        </p:txBody>
      </p:sp>
      <p:sp>
        <p:nvSpPr>
          <p:cNvPr id="5" name="Rounded Rectangle 4"/>
          <p:cNvSpPr/>
          <p:nvPr/>
        </p:nvSpPr>
        <p:spPr>
          <a:xfrm>
            <a:off x="5120640" y="1645920"/>
            <a:ext cx="630936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val_benchmark.png"/>
          <p:cNvPicPr>
            <a:picLocks noChangeAspect="1"/>
          </p:cNvPicPr>
          <p:nvPr/>
        </p:nvPicPr>
        <p:blipFill>
          <a:blip r:embed="rId2"/>
          <a:stretch>
            <a:fillRect/>
          </a:stretch>
        </p:blipFill>
        <p:spPr>
          <a:xfrm>
            <a:off x="5303520" y="1920240"/>
            <a:ext cx="5943600" cy="24810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EXPLAINABILITY &amp; CLINICAL TRUST</a:t>
            </a:r>
          </a:p>
          <a:p>
            <a:pPr>
              <a:spcBef>
                <a:spcPts val="400"/>
              </a:spcBef>
              <a:defRPr sz="2400" b="1">
                <a:solidFill>
                  <a:srgbClr val="F8FAFC"/>
                </a:solidFill>
              </a:defRPr>
            </a:pPr>
            <a:r>
              <a:t>Eliminating the Black Box: TreeSHAP Operator Intelligence</a:t>
            </a:r>
          </a:p>
        </p:txBody>
      </p:sp>
      <p:sp>
        <p:nvSpPr>
          <p:cNvPr id="3" name="Rounded Rectangle 2"/>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114800"/>
          </a:xfrm>
          <a:prstGeom prst="rect">
            <a:avLst/>
          </a:prstGeom>
          <a:noFill/>
        </p:spPr>
        <p:txBody>
          <a:bodyPr wrap="square">
            <a:spAutoFit/>
          </a:bodyPr>
          <a:lstStyle/>
          <a:p>
            <a:pPr>
              <a:defRPr sz="1400" b="1">
                <a:solidFill>
                  <a:srgbClr val="38BDF8"/>
                </a:solidFill>
              </a:defRPr>
            </a:pPr>
            <a:r>
              <a:t>REAL-TIME FACTOR ATTRIBUTIONS</a:t>
            </a:r>
          </a:p>
          <a:p>
            <a:pPr>
              <a:spcBef>
                <a:spcPts val="1400"/>
              </a:spcBef>
              <a:defRPr sz="1100">
                <a:solidFill>
                  <a:srgbClr val="F8FAFC"/>
                </a:solidFill>
              </a:defRPr>
            </a:pPr>
            <a:r>
              <a:t>• Clinicians cannot act on an unexplained risk score. AeroCold decomposes every prediction using TreeSHAP.</a:t>
            </a:r>
          </a:p>
          <a:p>
            <a:pPr>
              <a:spcBef>
                <a:spcPts val="1400"/>
              </a:spcBef>
              <a:defRPr sz="1100">
                <a:solidFill>
                  <a:srgbClr val="F8FAFC"/>
                </a:solidFill>
              </a:defRPr>
            </a:pPr>
            <a:r>
              <a:t>• Calculates exact mathematical contribution of all 20 features (mean temp, 10m drift, compressor idle time).</a:t>
            </a:r>
          </a:p>
          <a:p>
            <a:pPr>
              <a:spcBef>
                <a:spcPts val="1400"/>
              </a:spcBef>
              <a:defRPr sz="1100">
                <a:solidFill>
                  <a:srgbClr val="F8FAFC"/>
                </a:solidFill>
              </a:defRPr>
            </a:pPr>
            <a:r>
              <a:t>• Horizontal force bar chart shows positive drivers pushing risk up (Red) and stabilizing factors pulling risk down (Green).</a:t>
            </a:r>
          </a:p>
          <a:p>
            <a:pPr>
              <a:spcBef>
                <a:spcPts val="1400"/>
              </a:spcBef>
              <a:defRPr sz="1100">
                <a:solidFill>
                  <a:srgbClr val="F8FAFC"/>
                </a:solidFill>
              </a:defRPr>
            </a:pPr>
            <a:r>
              <a:t>• Enables immediate operational triage: nurses know whether to close a door, check power, or deploy dry ice.</a:t>
            </a:r>
          </a:p>
        </p:txBody>
      </p:sp>
      <p:sp>
        <p:nvSpPr>
          <p:cNvPr id="5" name="Rounded Rectangle 4"/>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114800"/>
          </a:xfrm>
          <a:prstGeom prst="rect">
            <a:avLst/>
          </a:prstGeom>
          <a:noFill/>
        </p:spPr>
        <p:txBody>
          <a:bodyPr wrap="square">
            <a:spAutoFit/>
          </a:bodyPr>
          <a:lstStyle/>
          <a:p>
            <a:pPr>
              <a:defRPr sz="1400" b="1">
                <a:solidFill>
                  <a:srgbClr val="10B981"/>
                </a:solidFill>
              </a:defRPr>
            </a:pPr>
            <a:r>
              <a:t>PLAIN-ENGLISH OPERATOR VERDICTS</a:t>
            </a:r>
          </a:p>
          <a:p>
            <a:pPr>
              <a:spcBef>
                <a:spcPts val="1400"/>
              </a:spcBef>
              <a:defRPr sz="1100" b="1">
                <a:solidFill>
                  <a:srgbClr val="38BDF8"/>
                </a:solidFill>
              </a:defRPr>
            </a:pPr>
            <a:r>
              <a:t>Door Recovery Diagnosis</a:t>
            </a:r>
          </a:p>
          <a:p>
            <a:pPr>
              <a:spcBef>
                <a:spcPts val="200"/>
              </a:spcBef>
              <a:defRPr sz="1050">
                <a:solidFill>
                  <a:srgbClr val="F8FAFC"/>
                </a:solidFill>
              </a:defRPr>
            </a:pPr>
            <a:r>
              <a:t>'Door was opened and is now closed; temperature is falling back to normal limits. Suppressing false alarm.'</a:t>
            </a:r>
          </a:p>
          <a:p>
            <a:pPr>
              <a:spcBef>
                <a:spcPts val="1400"/>
              </a:spcBef>
              <a:defRPr sz="1100" b="1">
                <a:solidFill>
                  <a:srgbClr val="38BDF8"/>
                </a:solidFill>
              </a:defRPr>
            </a:pPr>
            <a:r>
              <a:t>Cooling Failure Diagnosis</a:t>
            </a:r>
          </a:p>
          <a:p>
            <a:pPr>
              <a:spcBef>
                <a:spcPts val="200"/>
              </a:spcBef>
              <a:defRPr sz="1050">
                <a:solidFill>
                  <a:srgbClr val="F8FAFC"/>
                </a:solidFill>
              </a:defRPr>
            </a:pPr>
            <a:r>
              <a:t>'Cooling is OFF and temperature is rising; reaches 8.0°C in ~6 minutes. Key factor: compressor idle for prolonged duration.'</a:t>
            </a:r>
          </a:p>
          <a:p>
            <a:pPr>
              <a:spcBef>
                <a:spcPts val="1400"/>
              </a:spcBef>
              <a:defRPr sz="1100" b="1">
                <a:solidFill>
                  <a:srgbClr val="38BDF8"/>
                </a:solidFill>
              </a:defRPr>
            </a:pPr>
            <a:r>
              <a:t>Thermal Creep Diagnosis</a:t>
            </a:r>
          </a:p>
          <a:p>
            <a:pPr>
              <a:spcBef>
                <a:spcPts val="200"/>
              </a:spcBef>
              <a:defRPr sz="1050">
                <a:solidFill>
                  <a:srgbClr val="F8FAFC"/>
                </a:solidFill>
              </a:defRPr>
            </a:pPr>
            <a:r>
              <a:t>'Elevated risk detected under 36°C ambient load; projected excursion in ~24 minutes if drift persists.'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CLINICAL LOGISTICS DEMO FLEET</a:t>
            </a:r>
          </a:p>
          <a:p>
            <a:pPr>
              <a:spcBef>
                <a:spcPts val="400"/>
              </a:spcBef>
              <a:defRPr sz="2400" b="1">
                <a:solidFill>
                  <a:srgbClr val="F8FAFC"/>
                </a:solidFill>
              </a:defRPr>
            </a:pPr>
            <a:r>
              <a:t>Demonstrating the Complete Cold-Chain Spectrum (U1 – U5)</a:t>
            </a:r>
          </a:p>
        </p:txBody>
      </p:sp>
      <p:sp>
        <p:nvSpPr>
          <p:cNvPr id="3" name="Rounded Rectangle 2"/>
          <p:cNvSpPr/>
          <p:nvPr/>
        </p:nvSpPr>
        <p:spPr>
          <a:xfrm>
            <a:off x="731520" y="155448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27632"/>
            <a:ext cx="10332720" cy="731520"/>
          </a:xfrm>
          <a:prstGeom prst="rect">
            <a:avLst/>
          </a:prstGeom>
          <a:noFill/>
        </p:spPr>
        <p:txBody>
          <a:bodyPr wrap="square">
            <a:spAutoFit/>
          </a:bodyPr>
          <a:lstStyle/>
          <a:p>
            <a:pPr>
              <a:defRPr sz="1200" b="1">
                <a:solidFill>
                  <a:srgbClr val="10B981"/>
                </a:solidFill>
              </a:defRPr>
            </a:pPr>
            <a:r>
              <a:t>U1: Comirnaty mRNA Vaccine • 4.8°C • LOW RISK</a:t>
            </a:r>
          </a:p>
          <a:p>
            <a:pPr>
              <a:spcBef>
                <a:spcPts val="200"/>
              </a:spcBef>
              <a:defRPr sz="1000">
                <a:solidFill>
                  <a:srgbClr val="F8FAFC"/>
                </a:solidFill>
              </a:defRPr>
            </a:pPr>
            <a:r>
              <a:t>Scenario: Door-Open Recovery — Door opened &amp; closed; cooling active. Safety layer suppresses false alarm.</a:t>
            </a:r>
          </a:p>
        </p:txBody>
      </p:sp>
      <p:sp>
        <p:nvSpPr>
          <p:cNvPr id="5" name="Rounded Rectangle 4"/>
          <p:cNvSpPr/>
          <p:nvPr/>
        </p:nvSpPr>
        <p:spPr>
          <a:xfrm>
            <a:off x="731520" y="251460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87752"/>
            <a:ext cx="10332720" cy="731520"/>
          </a:xfrm>
          <a:prstGeom prst="rect">
            <a:avLst/>
          </a:prstGeom>
          <a:noFill/>
        </p:spPr>
        <p:txBody>
          <a:bodyPr wrap="square">
            <a:spAutoFit/>
          </a:bodyPr>
          <a:lstStyle/>
          <a:p>
            <a:pPr>
              <a:defRPr sz="1200" b="1">
                <a:solidFill>
                  <a:srgbClr val="EF4444"/>
                </a:solidFill>
              </a:defRPr>
            </a:pPr>
            <a:r>
              <a:t>U2: Insulin Glargine &amp; EPO • 7.5°C • HIGH (K=3)</a:t>
            </a:r>
          </a:p>
          <a:p>
            <a:pPr>
              <a:spcBef>
                <a:spcPts val="200"/>
              </a:spcBef>
              <a:defRPr sz="1000">
                <a:solidFill>
                  <a:srgbClr val="F8FAFC"/>
                </a:solidFill>
              </a:defRPr>
            </a:pPr>
            <a:r>
              <a:t>Scenario: Compressor Failure — Cooling died in air cargo. Alarms ~6m before 8°C excursion limit.</a:t>
            </a:r>
          </a:p>
        </p:txBody>
      </p:sp>
      <p:sp>
        <p:nvSpPr>
          <p:cNvPr id="7" name="Rounded Rectangle 6"/>
          <p:cNvSpPr/>
          <p:nvPr/>
        </p:nvSpPr>
        <p:spPr>
          <a:xfrm>
            <a:off x="731520" y="347472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47872"/>
            <a:ext cx="10332720" cy="731520"/>
          </a:xfrm>
          <a:prstGeom prst="rect">
            <a:avLst/>
          </a:prstGeom>
          <a:noFill/>
        </p:spPr>
        <p:txBody>
          <a:bodyPr wrap="square">
            <a:spAutoFit/>
          </a:bodyPr>
          <a:lstStyle/>
          <a:p>
            <a:pPr>
              <a:defRPr sz="1200" b="1">
                <a:solidFill>
                  <a:srgbClr val="F59E0B"/>
                </a:solidFill>
              </a:defRPr>
            </a:pPr>
            <a:r>
              <a:t>U3: Pediatric Hepatitis B • 5.6°C • MEDIUM RISK</a:t>
            </a:r>
          </a:p>
          <a:p>
            <a:pPr>
              <a:spcBef>
                <a:spcPts val="200"/>
              </a:spcBef>
              <a:defRPr sz="1000">
                <a:solidFill>
                  <a:srgbClr val="F8FAFC"/>
                </a:solidFill>
              </a:defRPr>
            </a:pPr>
            <a:r>
              <a:t>Scenario: Heatwave Thermal Creep — Autonomous drone in 36°C ambient. Flags warning stage ~24m in advance.</a:t>
            </a:r>
          </a:p>
        </p:txBody>
      </p:sp>
      <p:sp>
        <p:nvSpPr>
          <p:cNvPr id="9" name="Rounded Rectangle 8"/>
          <p:cNvSpPr/>
          <p:nvPr/>
        </p:nvSpPr>
        <p:spPr>
          <a:xfrm>
            <a:off x="731520" y="443484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07992"/>
            <a:ext cx="10332720" cy="731520"/>
          </a:xfrm>
          <a:prstGeom prst="rect">
            <a:avLst/>
          </a:prstGeom>
          <a:noFill/>
        </p:spPr>
        <p:txBody>
          <a:bodyPr wrap="square">
            <a:spAutoFit/>
          </a:bodyPr>
          <a:lstStyle/>
          <a:p>
            <a:pPr>
              <a:defRPr sz="1200" b="1">
                <a:solidFill>
                  <a:srgbClr val="38BDF8"/>
                </a:solidFill>
              </a:defRPr>
            </a:pPr>
            <a:r>
              <a:t>U4: Meningococcal Vaccine • 3.9°C • LOW RISK</a:t>
            </a:r>
          </a:p>
          <a:p>
            <a:pPr>
              <a:spcBef>
                <a:spcPts val="200"/>
              </a:spcBef>
              <a:defRPr sz="1000">
                <a:solidFill>
                  <a:srgbClr val="F8FAFC"/>
                </a:solidFill>
              </a:defRPr>
            </a:pPr>
            <a:r>
              <a:t>Scenario: Nominal Regulation — Central Pharmacy Vault. Flawless 3.5°C-4.5°C thermostat regulation.</a:t>
            </a:r>
          </a:p>
        </p:txBody>
      </p:sp>
      <p:sp>
        <p:nvSpPr>
          <p:cNvPr id="11" name="Rounded Rectangle 10"/>
          <p:cNvSpPr/>
          <p:nvPr/>
        </p:nvSpPr>
        <p:spPr>
          <a:xfrm>
            <a:off x="731520" y="539496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68112"/>
            <a:ext cx="10332720" cy="731520"/>
          </a:xfrm>
          <a:prstGeom prst="rect">
            <a:avLst/>
          </a:prstGeom>
          <a:noFill/>
        </p:spPr>
        <p:txBody>
          <a:bodyPr wrap="square">
            <a:spAutoFit/>
          </a:bodyPr>
          <a:lstStyle/>
          <a:p>
            <a:pPr>
              <a:defRPr sz="1200" b="1">
                <a:solidFill>
                  <a:srgbClr val="10B981"/>
                </a:solidFill>
              </a:defRPr>
            </a:pPr>
            <a:r>
              <a:t>U5: Cryo Blood Plasma • 4.0°C • LOW RISK</a:t>
            </a:r>
          </a:p>
          <a:p>
            <a:pPr>
              <a:spcBef>
                <a:spcPts val="200"/>
              </a:spcBef>
              <a:defRPr sz="1000">
                <a:solidFill>
                  <a:srgbClr val="F8FAFC"/>
                </a:solidFill>
              </a:defRPr>
            </a:pPr>
            <a:r>
              <a:t>Scenario: Glitch Filtering — Electrical sensor spike to 7.8°C rejected cleanly by 3-point median filter.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INTERACTIVE USER EXPERIENCE</a:t>
            </a:r>
          </a:p>
          <a:p>
            <a:pPr>
              <a:spcBef>
                <a:spcPts val="400"/>
              </a:spcBef>
              <a:defRPr sz="2400" b="1">
                <a:solidFill>
                  <a:srgbClr val="F8FAFC"/>
                </a:solidFill>
              </a:defRPr>
            </a:pPr>
            <a:r>
              <a:t>Enterprise Command Center &amp; Live IoT Streaming</a:t>
            </a:r>
          </a:p>
        </p:txBody>
      </p:sp>
      <p:sp>
        <p:nvSpPr>
          <p:cNvPr id="3" name="Rounded Rectangle 2"/>
          <p:cNvSpPr/>
          <p:nvPr/>
        </p:nvSpPr>
        <p:spPr>
          <a:xfrm>
            <a:off x="731520" y="155448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685800"/>
          </a:xfrm>
          <a:prstGeom prst="rect">
            <a:avLst/>
          </a:prstGeom>
          <a:noFill/>
        </p:spPr>
        <p:txBody>
          <a:bodyPr wrap="square">
            <a:spAutoFit/>
          </a:bodyPr>
          <a:lstStyle/>
          <a:p>
            <a:pPr>
              <a:defRPr sz="1200" b="1">
                <a:solidFill>
                  <a:srgbClr val="38BDF8"/>
                </a:solidFill>
              </a:defRPr>
            </a:pPr>
            <a:r>
              <a:t>Semicircular SVG Risk Dial Gauge</a:t>
            </a:r>
          </a:p>
          <a:p>
            <a:pPr>
              <a:spcBef>
                <a:spcPts val="200"/>
              </a:spcBef>
              <a:defRPr sz="1050">
                <a:solidFill>
                  <a:srgbClr val="F8FAFC"/>
                </a:solidFill>
              </a:defRPr>
            </a:pPr>
            <a:r>
              <a:t>Color-calibrated risk zones (0-20% Green Safe, 20-52.7% Amber Warning, 52.7-100% Red Critical) with smooth animated needle updates.</a:t>
            </a:r>
          </a:p>
        </p:txBody>
      </p:sp>
      <p:sp>
        <p:nvSpPr>
          <p:cNvPr id="5" name="Rounded Rectangle 4"/>
          <p:cNvSpPr/>
          <p:nvPr/>
        </p:nvSpPr>
        <p:spPr>
          <a:xfrm>
            <a:off x="731520" y="251460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06040"/>
            <a:ext cx="10332720" cy="685800"/>
          </a:xfrm>
          <a:prstGeom prst="rect">
            <a:avLst/>
          </a:prstGeom>
          <a:noFill/>
        </p:spPr>
        <p:txBody>
          <a:bodyPr wrap="square">
            <a:spAutoFit/>
          </a:bodyPr>
          <a:lstStyle/>
          <a:p>
            <a:pPr>
              <a:defRPr sz="1200" b="1">
                <a:solidFill>
                  <a:srgbClr val="38BDF8"/>
                </a:solidFill>
              </a:defRPr>
            </a:pPr>
            <a:r>
              <a:t>Interactive 2.0°C – 8.0°C Recharts Graph</a:t>
            </a:r>
          </a:p>
          <a:p>
            <a:pPr>
              <a:spcBef>
                <a:spcPts val="200"/>
              </a:spcBef>
              <a:defRPr sz="1050">
                <a:solidFill>
                  <a:srgbClr val="F8FAFC"/>
                </a:solidFill>
              </a:defRPr>
            </a:pPr>
            <a:r>
              <a:t>Real-time rolling temperature curves with regulatory bands, 8.0°C excursion threshold reference lines, and dynamic ambient overlay.</a:t>
            </a:r>
          </a:p>
        </p:txBody>
      </p:sp>
      <p:sp>
        <p:nvSpPr>
          <p:cNvPr id="7" name="Rounded Rectangle 6"/>
          <p:cNvSpPr/>
          <p:nvPr/>
        </p:nvSpPr>
        <p:spPr>
          <a:xfrm>
            <a:off x="731520" y="347472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10332720" cy="685800"/>
          </a:xfrm>
          <a:prstGeom prst="rect">
            <a:avLst/>
          </a:prstGeom>
          <a:noFill/>
        </p:spPr>
        <p:txBody>
          <a:bodyPr wrap="square">
            <a:spAutoFit/>
          </a:bodyPr>
          <a:lstStyle/>
          <a:p>
            <a:pPr>
              <a:defRPr sz="1200" b="1">
                <a:solidFill>
                  <a:srgbClr val="38BDF8"/>
                </a:solidFill>
              </a:defRPr>
            </a:pPr>
            <a:r>
              <a:t>1-Click Scenario Demonstrators</a:t>
            </a:r>
          </a:p>
          <a:p>
            <a:pPr>
              <a:spcBef>
                <a:spcPts val="200"/>
              </a:spcBef>
              <a:defRPr sz="1050">
                <a:solidFill>
                  <a:srgbClr val="F8FAFC"/>
                </a:solidFill>
              </a:defRPr>
            </a:pPr>
            <a:r>
              <a:t>Stream U1 (Door Recovery), U2 (Cooling Failure), U3 (Warning Creep), or All (U1-U5) directly from the browser.</a:t>
            </a:r>
          </a:p>
        </p:txBody>
      </p:sp>
      <p:sp>
        <p:nvSpPr>
          <p:cNvPr id="9" name="Rounded Rectangle 8"/>
          <p:cNvSpPr/>
          <p:nvPr/>
        </p:nvSpPr>
        <p:spPr>
          <a:xfrm>
            <a:off x="731520" y="443484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26280"/>
            <a:ext cx="10332720" cy="685800"/>
          </a:xfrm>
          <a:prstGeom prst="rect">
            <a:avLst/>
          </a:prstGeom>
          <a:noFill/>
        </p:spPr>
        <p:txBody>
          <a:bodyPr wrap="square">
            <a:spAutoFit/>
          </a:bodyPr>
          <a:lstStyle/>
          <a:p>
            <a:pPr>
              <a:defRPr sz="1200" b="1">
                <a:solidFill>
                  <a:srgbClr val="38BDF8"/>
                </a:solidFill>
              </a:defRPr>
            </a:pPr>
            <a:r>
              <a:t>▶ Auto-Stream Live Simulation Mode</a:t>
            </a:r>
          </a:p>
          <a:p>
            <a:pPr>
              <a:spcBef>
                <a:spcPts val="200"/>
              </a:spcBef>
              <a:defRPr sz="1050">
                <a:solidFill>
                  <a:srgbClr val="F8FAFC"/>
                </a:solidFill>
              </a:defRPr>
            </a:pPr>
            <a:r>
              <a:t>Ticks live simulated sensor telemetry every 2.5 seconds over WebSockets, dynamically sliding graphs and updating dials live on stage.</a:t>
            </a:r>
          </a:p>
        </p:txBody>
      </p:sp>
      <p:sp>
        <p:nvSpPr>
          <p:cNvPr id="11" name="Rounded Rectangle 10"/>
          <p:cNvSpPr/>
          <p:nvPr/>
        </p:nvSpPr>
        <p:spPr>
          <a:xfrm>
            <a:off x="731520" y="5394960"/>
            <a:ext cx="10698480" cy="868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85800"/>
          </a:xfrm>
          <a:prstGeom prst="rect">
            <a:avLst/>
          </a:prstGeom>
          <a:noFill/>
        </p:spPr>
        <p:txBody>
          <a:bodyPr wrap="square">
            <a:spAutoFit/>
          </a:bodyPr>
          <a:lstStyle/>
          <a:p>
            <a:pPr>
              <a:defRPr sz="1200" b="1">
                <a:solidFill>
                  <a:srgbClr val="38BDF8"/>
                </a:solidFill>
              </a:defRPr>
            </a:pPr>
            <a:r>
              <a:t>Quick Operational Event Injectors</a:t>
            </a:r>
          </a:p>
          <a:p>
            <a:pPr>
              <a:spcBef>
                <a:spcPts val="200"/>
              </a:spcBef>
              <a:defRPr sz="1050">
                <a:solidFill>
                  <a:srgbClr val="F8FAFC"/>
                </a:solidFill>
              </a:defRPr>
            </a:pPr>
            <a:r>
              <a:t>Inject instant incident events: Door Open (+0.6°C), Cut Compressor Power, Cool Down, or Reset to clean baseline.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38BDF8"/>
                </a:solidFill>
              </a:defRPr>
            </a:pPr>
            <a:r>
              <a:t>CONCLUSION &amp; IMPACT</a:t>
            </a:r>
          </a:p>
          <a:p>
            <a:pPr>
              <a:spcBef>
                <a:spcPts val="400"/>
              </a:spcBef>
              <a:defRPr sz="2400" b="1">
                <a:solidFill>
                  <a:srgbClr val="F8FAFC"/>
                </a:solidFill>
              </a:defRPr>
            </a:pPr>
            <a:r>
              <a:t>Summary &amp; Future Roadmap: Scaling AeroCold</a:t>
            </a:r>
          </a:p>
        </p:txBody>
      </p:sp>
      <p:sp>
        <p:nvSpPr>
          <p:cNvPr id="3" name="Rounded Rectangle 2"/>
          <p:cNvSpPr/>
          <p:nvPr/>
        </p:nvSpPr>
        <p:spPr>
          <a:xfrm>
            <a:off x="731520" y="1645920"/>
            <a:ext cx="512064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114800"/>
          </a:xfrm>
          <a:prstGeom prst="rect">
            <a:avLst/>
          </a:prstGeom>
          <a:noFill/>
        </p:spPr>
        <p:txBody>
          <a:bodyPr wrap="square">
            <a:spAutoFit/>
          </a:bodyPr>
          <a:lstStyle/>
          <a:p>
            <a:pPr>
              <a:defRPr sz="1400" b="1">
                <a:solidFill>
                  <a:srgbClr val="38BDF8"/>
                </a:solidFill>
              </a:defRPr>
            </a:pPr>
            <a:r>
              <a:t>KEY ARCHITECTURAL ACHIEVEMENTS</a:t>
            </a:r>
          </a:p>
          <a:p>
            <a:pPr>
              <a:spcBef>
                <a:spcPts val="1200"/>
              </a:spcBef>
              <a:defRPr sz="1100">
                <a:solidFill>
                  <a:srgbClr val="F8FAFC"/>
                </a:solidFill>
              </a:defRPr>
            </a:pPr>
            <a:r>
              <a:t>✓ 12.2 Minutes average early intervention window before temperature excursions.</a:t>
            </a:r>
          </a:p>
          <a:p>
            <a:pPr>
              <a:spcBef>
                <a:spcPts val="1200"/>
              </a:spcBef>
              <a:defRPr sz="1100">
                <a:solidFill>
                  <a:srgbClr val="F8FAFC"/>
                </a:solidFill>
              </a:defRPr>
            </a:pPr>
            <a:r>
              <a:t>✓ 95.4% Event Recall with 30% reduction in nuisance false alarms.</a:t>
            </a:r>
          </a:p>
          <a:p>
            <a:pPr>
              <a:spcBef>
                <a:spcPts val="1200"/>
              </a:spcBef>
              <a:defRPr sz="1100">
                <a:solidFill>
                  <a:srgbClr val="F8FAFC"/>
                </a:solidFill>
              </a:defRPr>
            </a:pPr>
            <a:r>
              <a:t>✓ Zero in-memory state leakage: K=3 alert persistence survives reboots in SQLite WAL.</a:t>
            </a:r>
          </a:p>
          <a:p>
            <a:pPr>
              <a:spcBef>
                <a:spcPts val="1200"/>
              </a:spcBef>
              <a:defRPr sz="1100">
                <a:solidFill>
                  <a:srgbClr val="F8FAFC"/>
                </a:solidFill>
              </a:defRPr>
            </a:pPr>
            <a:r>
              <a:t>✓ Full explainability via TreeSHAP feature attributions and plain-English verdicts.</a:t>
            </a:r>
          </a:p>
          <a:p>
            <a:pPr>
              <a:spcBef>
                <a:spcPts val="1200"/>
              </a:spcBef>
              <a:defRPr sz="1100">
                <a:solidFill>
                  <a:srgbClr val="F8FAFC"/>
                </a:solidFill>
              </a:defRPr>
            </a:pPr>
            <a:r>
              <a:t>✓ Validated by 100% passing automated test suite (9/9 pytest conditions).</a:t>
            </a:r>
          </a:p>
        </p:txBody>
      </p:sp>
      <p:sp>
        <p:nvSpPr>
          <p:cNvPr id="5" name="Rounded Rectangle 4"/>
          <p:cNvSpPr/>
          <p:nvPr/>
        </p:nvSpPr>
        <p:spPr>
          <a:xfrm>
            <a:off x="6217920" y="1645920"/>
            <a:ext cx="5212080" cy="4572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114800"/>
          </a:xfrm>
          <a:prstGeom prst="rect">
            <a:avLst/>
          </a:prstGeom>
          <a:noFill/>
        </p:spPr>
        <p:txBody>
          <a:bodyPr wrap="square">
            <a:spAutoFit/>
          </a:bodyPr>
          <a:lstStyle/>
          <a:p>
            <a:pPr>
              <a:defRPr sz="1400" b="1">
                <a:solidFill>
                  <a:srgbClr val="10B981"/>
                </a:solidFill>
              </a:defRPr>
            </a:pPr>
            <a:r>
              <a:t>ROADMAP TO PRODUCTION</a:t>
            </a:r>
          </a:p>
          <a:p>
            <a:pPr>
              <a:spcBef>
                <a:spcPts val="1200"/>
              </a:spcBef>
              <a:defRPr sz="1100" b="1">
                <a:solidFill>
                  <a:srgbClr val="38BDF8"/>
                </a:solidFill>
              </a:defRPr>
            </a:pPr>
            <a:r>
              <a:t>• Edge Microcontroller Port:</a:t>
            </a:r>
          </a:p>
          <a:p>
            <a:pPr>
              <a:spcBef>
                <a:spcPts val="200"/>
              </a:spcBef>
              <a:defRPr sz="1000">
                <a:solidFill>
                  <a:srgbClr val="F8FAFC"/>
                </a:solidFill>
              </a:defRPr>
            </a:pPr>
            <a:r>
              <a:t>Deploy quantized LightGBM model directly onto ESP32 / ARM Cortex-M microcontrollers on battery-powered transport pods.</a:t>
            </a:r>
          </a:p>
          <a:p>
            <a:pPr>
              <a:spcBef>
                <a:spcPts val="1200"/>
              </a:spcBef>
              <a:defRPr sz="1100" b="1">
                <a:solidFill>
                  <a:srgbClr val="38BDF8"/>
                </a:solidFill>
              </a:defRPr>
            </a:pPr>
            <a:r>
              <a:t>• Multi-Zone Thermal Mapping:</a:t>
            </a:r>
          </a:p>
          <a:p>
            <a:pPr>
              <a:spcBef>
                <a:spcPts val="200"/>
              </a:spcBef>
              <a:defRPr sz="1000">
                <a:solidFill>
                  <a:srgbClr val="F8FAFC"/>
                </a:solidFill>
              </a:defRPr>
            </a:pPr>
            <a:r>
              <a:t>Extend from single-chamber sensors to 3D spatial multi-probe temperature gradient detection.</a:t>
            </a:r>
          </a:p>
          <a:p>
            <a:pPr>
              <a:spcBef>
                <a:spcPts val="1200"/>
              </a:spcBef>
              <a:defRPr sz="1100" b="1">
                <a:solidFill>
                  <a:srgbClr val="38BDF8"/>
                </a:solidFill>
              </a:defRPr>
            </a:pPr>
            <a:r>
              <a:t>• Automated Dispatcher Routing:</a:t>
            </a:r>
          </a:p>
          <a:p>
            <a:pPr>
              <a:spcBef>
                <a:spcPts val="200"/>
              </a:spcBef>
              <a:defRPr sz="1000">
                <a:solidFill>
                  <a:srgbClr val="F8FAFC"/>
                </a:solidFill>
              </a:defRPr>
            </a:pPr>
            <a:r>
              <a:t>Integrate with drone &amp; cargo APIs to automatically reroute delivery vehicles to emergency cold hubs upon Medium Risk detection.</a:t>
            </a:r>
          </a:p>
          <a:p>
            <a:pPr>
              <a:spcBef>
                <a:spcPts val="1200"/>
              </a:spcBef>
              <a:defRPr sz="1100" b="1">
                <a:solidFill>
                  <a:srgbClr val="38BDF8"/>
                </a:solidFill>
              </a:defRPr>
            </a:pPr>
            <a:r>
              <a:t>• Regulatory Compliance (FDA/EMA):</a:t>
            </a:r>
          </a:p>
          <a:p>
            <a:pPr>
              <a:spcBef>
                <a:spcPts val="200"/>
              </a:spcBef>
              <a:defRPr sz="1000">
                <a:solidFill>
                  <a:srgbClr val="F8FAFC"/>
                </a:solidFill>
              </a:defRPr>
            </a:pPr>
            <a:r>
              <a:t>Package electronic audit logs meeting FDA 21 CFR Part 11 requirements for electronic medical records.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